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66" r:id="rId4"/>
    <p:sldId id="260" r:id="rId5"/>
    <p:sldId id="261" r:id="rId6"/>
    <p:sldId id="263"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176066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1297445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3295093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EE5C97-7885-4C6F-8023-13143555B1CF}"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214619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EE5C97-7885-4C6F-8023-13143555B1CF}" type="datetimeFigureOut">
              <a:rPr lang="en-IN" smtClean="0"/>
              <a:t>10-12-2025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131978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EE5C97-7885-4C6F-8023-13143555B1CF}" type="datetimeFigureOut">
              <a:rPr lang="en-IN" smtClean="0"/>
              <a:t>10-12-2025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3455004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EE5C97-7885-4C6F-8023-13143555B1CF}" type="datetimeFigureOut">
              <a:rPr lang="en-IN" smtClean="0"/>
              <a:t>10-12-2025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671780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EE5C97-7885-4C6F-8023-13143555B1CF}"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2424092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EAEE5C97-7885-4C6F-8023-13143555B1CF}" type="datetimeFigureOut">
              <a:rPr lang="en-IN" smtClean="0"/>
              <a:t>10-12-2025</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393156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EE5C97-7885-4C6F-8023-13143555B1CF}"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59221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3668771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2524200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2114305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321437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3999114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457124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E5C97-7885-4C6F-8023-13143555B1CF}"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17B57D-E438-4E6D-BC81-498670B58123}" type="slidenum">
              <a:rPr lang="en-IN" smtClean="0"/>
              <a:t>‹#›</a:t>
            </a:fld>
            <a:endParaRPr lang="en-IN"/>
          </a:p>
        </p:txBody>
      </p:sp>
    </p:spTree>
    <p:extLst>
      <p:ext uri="{BB962C8B-B14F-4D97-AF65-F5344CB8AC3E}">
        <p14:creationId xmlns:p14="http://schemas.microsoft.com/office/powerpoint/2010/main" val="1198934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EAEE5C97-7885-4C6F-8023-13143555B1CF}" type="datetimeFigureOut">
              <a:rPr lang="en-IN" smtClean="0"/>
              <a:t>10-12-2025</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EE17B57D-E438-4E6D-BC81-498670B58123}" type="slidenum">
              <a:rPr lang="en-IN" smtClean="0"/>
              <a:t>‹#›</a:t>
            </a:fld>
            <a:endParaRPr lang="en-IN"/>
          </a:p>
        </p:txBody>
      </p:sp>
    </p:spTree>
    <p:extLst>
      <p:ext uri="{BB962C8B-B14F-4D97-AF65-F5344CB8AC3E}">
        <p14:creationId xmlns:p14="http://schemas.microsoft.com/office/powerpoint/2010/main" val="1719623939"/>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68502E2-7B8B-55D8-CF2F-9B15CC43957A}"/>
              </a:ext>
            </a:extLst>
          </p:cNvPr>
          <p:cNvSpPr>
            <a:spLocks noChangeArrowheads="1"/>
          </p:cNvSpPr>
          <p:nvPr/>
        </p:nvSpPr>
        <p:spPr bwMode="auto">
          <a:xfrm>
            <a:off x="260928" y="1680634"/>
            <a:ext cx="1178329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Title</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StockFlow</a:t>
            </a:r>
            <a:r>
              <a:rPr kumimoji="0" lang="en-US" altLang="en-US" sz="2800" b="0" i="0" u="none" strike="noStrike" cap="none" normalizeH="0" baseline="0" dirty="0">
                <a:ln>
                  <a:noFill/>
                </a:ln>
                <a:solidFill>
                  <a:schemeClr val="tx1"/>
                </a:solidFill>
                <a:effectLst/>
                <a:latin typeface="Arial" panose="020B0604020202020204" pitchFamily="34" charset="0"/>
              </a:rPr>
              <a:t> (Inventory Management System) (Database-Only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Subtitle</a:t>
            </a:r>
            <a:r>
              <a:rPr kumimoji="0" lang="en-US" altLang="en-US" sz="2800" b="0" i="0" u="none" strike="noStrike" cap="none" normalizeH="0" baseline="0" dirty="0">
                <a:ln>
                  <a:noFill/>
                </a:ln>
                <a:solidFill>
                  <a:schemeClr val="tx1"/>
                </a:solidFill>
                <a:effectLst/>
                <a:latin typeface="Arial" panose="020B0604020202020204" pitchFamily="34" charset="0"/>
              </a:rPr>
              <a:t>: Database Design and Query of Data Using SQL and Python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6688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9E42B-5FED-957F-1CCE-3FCFED725B91}"/>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C2AA6AAD-7AE4-0CD6-DA7E-9301ADA82DC6}"/>
              </a:ext>
            </a:extLst>
          </p:cNvPr>
          <p:cNvSpPr>
            <a:spLocks noChangeArrowheads="1"/>
          </p:cNvSpPr>
          <p:nvPr/>
        </p:nvSpPr>
        <p:spPr bwMode="auto">
          <a:xfrm>
            <a:off x="511628" y="293561"/>
            <a:ext cx="108639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IN" sz="2800" dirty="0"/>
              <a:t>Introduction</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17141E2-E990-8654-D039-02872DA8E774}"/>
              </a:ext>
            </a:extLst>
          </p:cNvPr>
          <p:cNvSpPr txBox="1"/>
          <p:nvPr/>
        </p:nvSpPr>
        <p:spPr>
          <a:xfrm>
            <a:off x="633350" y="1293048"/>
            <a:ext cx="6096000" cy="369332"/>
          </a:xfrm>
          <a:prstGeom prst="rect">
            <a:avLst/>
          </a:prstGeom>
          <a:noFill/>
        </p:spPr>
        <p:txBody>
          <a:bodyPr wrap="square">
            <a:spAutoFit/>
          </a:bodyPr>
          <a:lstStyle/>
          <a:p>
            <a:pPr>
              <a:buFont typeface="Arial" panose="020B0604020202020204" pitchFamily="34" charset="0"/>
              <a:buChar char="•"/>
            </a:pPr>
            <a:r>
              <a:rPr lang="en-US" b="1" dirty="0"/>
              <a:t>Objective</a:t>
            </a:r>
            <a:r>
              <a:rPr lang="en-US" dirty="0"/>
              <a:t>:</a:t>
            </a:r>
          </a:p>
        </p:txBody>
      </p:sp>
      <p:sp>
        <p:nvSpPr>
          <p:cNvPr id="5" name="TextBox 4">
            <a:extLst>
              <a:ext uri="{FF2B5EF4-FFF2-40B4-BE49-F238E27FC236}">
                <a16:creationId xmlns:a16="http://schemas.microsoft.com/office/drawing/2014/main" id="{4AFA996F-D21D-BA26-D28A-72BBBC11892E}"/>
              </a:ext>
            </a:extLst>
          </p:cNvPr>
          <p:cNvSpPr txBox="1"/>
          <p:nvPr/>
        </p:nvSpPr>
        <p:spPr>
          <a:xfrm>
            <a:off x="2318986" y="1205776"/>
            <a:ext cx="8820728" cy="3329053"/>
          </a:xfrm>
          <a:prstGeom prst="rect">
            <a:avLst/>
          </a:prstGeom>
          <a:noFill/>
        </p:spPr>
        <p:txBody>
          <a:bodyPr wrap="square">
            <a:spAutoFit/>
          </a:bodyPr>
          <a:lstStyle/>
          <a:p>
            <a:pPr>
              <a:lnSpc>
                <a:spcPct val="200000"/>
              </a:lnSpc>
            </a:pPr>
            <a:r>
              <a:rPr lang="en-US" dirty="0"/>
              <a:t>The objective of this project is to design and implement an efficient database system for managing and tracking inventory data for hardware products. The system should enable the storage, retrieval, and modification of key inventory information, including product details, suppliers, customer orders, and stock levels. Using SQL for data querying and Python for interaction with the database.</a:t>
            </a:r>
          </a:p>
        </p:txBody>
      </p:sp>
      <p:sp>
        <p:nvSpPr>
          <p:cNvPr id="6" name="TextBox 5">
            <a:extLst>
              <a:ext uri="{FF2B5EF4-FFF2-40B4-BE49-F238E27FC236}">
                <a16:creationId xmlns:a16="http://schemas.microsoft.com/office/drawing/2014/main" id="{62E291B8-05A6-9829-C559-867B3B4648BC}"/>
              </a:ext>
            </a:extLst>
          </p:cNvPr>
          <p:cNvSpPr txBox="1"/>
          <p:nvPr/>
        </p:nvSpPr>
        <p:spPr>
          <a:xfrm>
            <a:off x="724063" y="5195620"/>
            <a:ext cx="7948881" cy="369332"/>
          </a:xfrm>
          <a:prstGeom prst="rect">
            <a:avLst/>
          </a:prstGeom>
          <a:noFill/>
        </p:spPr>
        <p:txBody>
          <a:bodyPr wrap="square">
            <a:spAutoFit/>
          </a:bodyPr>
          <a:lstStyle/>
          <a:p>
            <a:r>
              <a:rPr lang="en-US" b="1" dirty="0"/>
              <a:t>Tech stack</a:t>
            </a:r>
            <a:r>
              <a:rPr lang="en-US" dirty="0"/>
              <a:t>: </a:t>
            </a:r>
            <a:r>
              <a:rPr lang="en-US" dirty="0" err="1"/>
              <a:t>Mysql</a:t>
            </a:r>
            <a:r>
              <a:rPr lang="en-US" dirty="0"/>
              <a:t> workbench , SQL ,python, </a:t>
            </a:r>
            <a:r>
              <a:rPr lang="en-US" dirty="0" err="1"/>
              <a:t>Jupyter</a:t>
            </a:r>
            <a:r>
              <a:rPr lang="en-US" dirty="0"/>
              <a:t> Notebook</a:t>
            </a:r>
          </a:p>
        </p:txBody>
      </p:sp>
    </p:spTree>
    <p:extLst>
      <p:ext uri="{BB962C8B-B14F-4D97-AF65-F5344CB8AC3E}">
        <p14:creationId xmlns:p14="http://schemas.microsoft.com/office/powerpoint/2010/main" val="2982053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9E42B-5FED-957F-1CCE-3FCFED725B91}"/>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C2AA6AAD-7AE4-0CD6-DA7E-9301ADA82DC6}"/>
              </a:ext>
            </a:extLst>
          </p:cNvPr>
          <p:cNvSpPr>
            <a:spLocks noChangeArrowheads="1"/>
          </p:cNvSpPr>
          <p:nvPr/>
        </p:nvSpPr>
        <p:spPr bwMode="auto">
          <a:xfrm>
            <a:off x="511628" y="293561"/>
            <a:ext cx="108639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IN" sz="2800" b="1" dirty="0"/>
              <a:t>Project Goals</a:t>
            </a:r>
          </a:p>
        </p:txBody>
      </p:sp>
      <p:sp>
        <p:nvSpPr>
          <p:cNvPr id="3" name="TextBox 2">
            <a:extLst>
              <a:ext uri="{FF2B5EF4-FFF2-40B4-BE49-F238E27FC236}">
                <a16:creationId xmlns:a16="http://schemas.microsoft.com/office/drawing/2014/main" id="{417141E2-E990-8654-D039-02872DA8E774}"/>
              </a:ext>
            </a:extLst>
          </p:cNvPr>
          <p:cNvSpPr txBox="1"/>
          <p:nvPr/>
        </p:nvSpPr>
        <p:spPr>
          <a:xfrm>
            <a:off x="642585" y="1376133"/>
            <a:ext cx="11106069" cy="5216813"/>
          </a:xfrm>
          <a:prstGeom prst="rect">
            <a:avLst/>
          </a:prstGeom>
          <a:noFill/>
        </p:spPr>
        <p:txBody>
          <a:bodyPr wrap="square">
            <a:spAutoFit/>
          </a:bodyPr>
          <a:lstStyle/>
          <a:p>
            <a:pPr>
              <a:lnSpc>
                <a:spcPct val="250000"/>
              </a:lnSpc>
            </a:pPr>
            <a:r>
              <a:rPr lang="en-US" dirty="0"/>
              <a:t>The goal of this project is to develop a robust and scalable database system for an Inventory Management System focused on hardware products. This system will:</a:t>
            </a:r>
          </a:p>
          <a:p>
            <a:pPr>
              <a:lnSpc>
                <a:spcPct val="250000"/>
              </a:lnSpc>
              <a:buFont typeface="Arial" panose="020B0604020202020204" pitchFamily="34" charset="0"/>
              <a:buChar char="•"/>
            </a:pPr>
            <a:r>
              <a:rPr lang="en-US" b="1" dirty="0"/>
              <a:t>Centralize</a:t>
            </a:r>
            <a:r>
              <a:rPr lang="en-US" dirty="0"/>
              <a:t> inventory data for efficient tracking of products, suppliers, orders, and stock levels.</a:t>
            </a:r>
          </a:p>
          <a:p>
            <a:pPr>
              <a:lnSpc>
                <a:spcPct val="250000"/>
              </a:lnSpc>
              <a:buFont typeface="Arial" panose="020B0604020202020204" pitchFamily="34" charset="0"/>
              <a:buChar char="•"/>
            </a:pPr>
            <a:r>
              <a:rPr lang="en-US" b="1" dirty="0"/>
              <a:t>Streamline</a:t>
            </a:r>
            <a:r>
              <a:rPr lang="en-US" dirty="0"/>
              <a:t> the process of managing stock inflows and outflows, ensuring optimal stock levels are maintained.</a:t>
            </a:r>
          </a:p>
          <a:p>
            <a:pPr>
              <a:lnSpc>
                <a:spcPct val="250000"/>
              </a:lnSpc>
              <a:buFont typeface="Arial" panose="020B0604020202020204" pitchFamily="34" charset="0"/>
              <a:buChar char="•"/>
            </a:pPr>
            <a:r>
              <a:rPr lang="en-US" b="1" dirty="0"/>
              <a:t>Facilitate</a:t>
            </a:r>
            <a:r>
              <a:rPr lang="en-US" dirty="0"/>
              <a:t> accurate and efficient querying of data using SQL for business insights, including stock availability, product performance, and order tracking.</a:t>
            </a:r>
          </a:p>
          <a:p>
            <a:endParaRPr lang="en-US" dirty="0"/>
          </a:p>
        </p:txBody>
      </p:sp>
    </p:spTree>
    <p:extLst>
      <p:ext uri="{BB962C8B-B14F-4D97-AF65-F5344CB8AC3E}">
        <p14:creationId xmlns:p14="http://schemas.microsoft.com/office/powerpoint/2010/main" val="3370853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38475-A8BF-D326-AA13-035FB0937BB2}"/>
              </a:ext>
            </a:extLst>
          </p:cNvPr>
          <p:cNvSpPr txBox="1"/>
          <p:nvPr/>
        </p:nvSpPr>
        <p:spPr>
          <a:xfrm>
            <a:off x="4132193" y="133350"/>
            <a:ext cx="6743767" cy="1905000"/>
          </a:xfrm>
          <a:prstGeom prst="rect">
            <a:avLst/>
          </a:prstGeom>
        </p:spPr>
        <p:txBody>
          <a:bodyPr vert="horz" lIns="91440" tIns="45720" rIns="91440" bIns="45720" rtlCol="0" anchor="ctr">
            <a:normAutofit/>
          </a:bodyPr>
          <a:lstStyle/>
          <a:p>
            <a:pPr>
              <a:spcBef>
                <a:spcPct val="0"/>
              </a:spcBef>
              <a:spcAft>
                <a:spcPts val="600"/>
              </a:spcAft>
            </a:pPr>
            <a:r>
              <a:rPr lang="en-US" sz="3200" b="1"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rPr>
              <a:t>Entities in the System</a:t>
            </a:r>
          </a:p>
        </p:txBody>
      </p:sp>
      <p:pic>
        <p:nvPicPr>
          <p:cNvPr id="11" name="Picture 10">
            <a:extLst>
              <a:ext uri="{FF2B5EF4-FFF2-40B4-BE49-F238E27FC236}">
                <a16:creationId xmlns:a16="http://schemas.microsoft.com/office/drawing/2014/main" id="{EA6B6EF1-9167-CF81-8B64-79A66C3E50CC}"/>
              </a:ext>
            </a:extLst>
          </p:cNvPr>
          <p:cNvPicPr>
            <a:picLocks noChangeAspect="1"/>
          </p:cNvPicPr>
          <p:nvPr/>
        </p:nvPicPr>
        <p:blipFill>
          <a:blip r:embed="rId3"/>
          <a:srcRect l="28883" r="21650" b="2"/>
          <a:stretch/>
        </p:blipFill>
        <p:spPr>
          <a:xfrm>
            <a:off x="257590" y="10"/>
            <a:ext cx="3479523" cy="6857990"/>
          </a:xfrm>
          <a:prstGeom prst="rect">
            <a:avLst/>
          </a:prstGeo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pic>
      <p:sp>
        <p:nvSpPr>
          <p:cNvPr id="9" name="Rectangle 3">
            <a:extLst>
              <a:ext uri="{FF2B5EF4-FFF2-40B4-BE49-F238E27FC236}">
                <a16:creationId xmlns:a16="http://schemas.microsoft.com/office/drawing/2014/main" id="{92EDB2FA-6624-C6E6-B958-91637E98606A}"/>
              </a:ext>
            </a:extLst>
          </p:cNvPr>
          <p:cNvSpPr>
            <a:spLocks noChangeArrowheads="1"/>
          </p:cNvSpPr>
          <p:nvPr/>
        </p:nvSpPr>
        <p:spPr bwMode="auto">
          <a:xfrm>
            <a:off x="4132193" y="1900381"/>
            <a:ext cx="7046844" cy="447271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spcBef>
                <a:spcPct val="20000"/>
              </a:spcBef>
              <a:spcAft>
                <a:spcPts val="600"/>
              </a:spcAft>
              <a:buClr>
                <a:schemeClr val="tx1"/>
              </a:buClr>
              <a:buSzPct val="100000"/>
              <a:buFont typeface="Arial"/>
              <a:buChar char="•"/>
              <a:tabLst/>
            </a:pPr>
            <a:r>
              <a:rPr kumimoji="0" lang="en-US" altLang="en-US" b="1"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Products</a:t>
            </a:r>
            <a:r>
              <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Information about items in stock.</a:t>
            </a:r>
          </a:p>
          <a:p>
            <a:pPr marL="0" marR="0" lvl="0" indent="0" fontAlgn="base">
              <a:spcBef>
                <a:spcPct val="20000"/>
              </a:spcBef>
              <a:spcAft>
                <a:spcPts val="600"/>
              </a:spcAft>
              <a:buClr>
                <a:schemeClr val="tx1"/>
              </a:buClr>
              <a:buSzPct val="100000"/>
              <a:buFont typeface="Arial"/>
              <a:buChar char="•"/>
              <a:tabLst/>
            </a:pPr>
            <a:r>
              <a:rPr kumimoji="0" lang="en-US" altLang="en-US" b="1"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Category</a:t>
            </a:r>
            <a:r>
              <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 Information about Products category</a:t>
            </a:r>
          </a:p>
          <a:p>
            <a:pPr marL="0" marR="0" lvl="0" indent="0" fontAlgn="base">
              <a:spcBef>
                <a:spcPct val="20000"/>
              </a:spcBef>
              <a:spcAft>
                <a:spcPts val="600"/>
              </a:spcAft>
              <a:buClr>
                <a:schemeClr val="tx1"/>
              </a:buClr>
              <a:buSzPct val="100000"/>
              <a:buFont typeface="Arial"/>
              <a:buChar char="•"/>
              <a:tabLst/>
            </a:pPr>
            <a:r>
              <a:rPr kumimoji="0" lang="en-US" altLang="en-US" b="1"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Customers</a:t>
            </a:r>
            <a:r>
              <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a:t>
            </a:r>
            <a:r>
              <a:rPr lang="en-US" alt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Information about customer name, phone, email, address</a:t>
            </a:r>
            <a:endPar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marL="0" marR="0" lvl="0" indent="0" fontAlgn="base">
              <a:spcBef>
                <a:spcPct val="20000"/>
              </a:spcBef>
              <a:spcAft>
                <a:spcPts val="600"/>
              </a:spcAft>
              <a:buClr>
                <a:schemeClr val="tx1"/>
              </a:buClr>
              <a:buSzPct val="100000"/>
              <a:buFont typeface="Arial"/>
              <a:buChar char="•"/>
              <a:tabLst/>
            </a:pPr>
            <a:r>
              <a:rPr kumimoji="0" lang="en-US" altLang="en-US" b="1"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Order details</a:t>
            </a:r>
            <a:r>
              <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Product order detail such as Order date,  quantity, price  customer, product</a:t>
            </a:r>
          </a:p>
          <a:p>
            <a:pPr marL="0" marR="0" lvl="0" indent="0" fontAlgn="base">
              <a:spcBef>
                <a:spcPct val="20000"/>
              </a:spcBef>
              <a:spcAft>
                <a:spcPts val="600"/>
              </a:spcAft>
              <a:buClr>
                <a:schemeClr val="tx1"/>
              </a:buClr>
              <a:buSzPct val="100000"/>
              <a:buFont typeface="Arial"/>
              <a:buChar char="•"/>
              <a:tabLst/>
            </a:pPr>
            <a:r>
              <a:rPr kumimoji="0" lang="en-US" altLang="en-US" b="1"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Inventory Transactions</a:t>
            </a:r>
            <a:r>
              <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information about stock and warehouse</a:t>
            </a:r>
          </a:p>
          <a:p>
            <a:pPr marL="0" marR="0" lvl="0" indent="0" fontAlgn="base">
              <a:spcBef>
                <a:spcPct val="20000"/>
              </a:spcBef>
              <a:spcAft>
                <a:spcPts val="600"/>
              </a:spcAft>
              <a:buClr>
                <a:schemeClr val="tx1"/>
              </a:buClr>
              <a:buSzPct val="100000"/>
              <a:buFont typeface="Arial"/>
              <a:buChar char="•"/>
              <a:tabLst/>
            </a:pPr>
            <a:r>
              <a:rPr lang="en-US" alt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Warehouse- Information about warehouse location</a:t>
            </a:r>
            <a:endParaRPr kumimoji="0" lang="en-US" altLang="en-US" b="0" i="0" u="none" strike="noStrike" cap="small" normalizeH="0" baseline="0" dirty="0">
              <a:ln>
                <a:noFill/>
              </a:ln>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p:txBody>
      </p:sp>
    </p:spTree>
    <p:extLst>
      <p:ext uri="{BB962C8B-B14F-4D97-AF65-F5344CB8AC3E}">
        <p14:creationId xmlns:p14="http://schemas.microsoft.com/office/powerpoint/2010/main" val="1343143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033684-CEC4-EDC9-EFEA-051B3A7887D4}"/>
              </a:ext>
            </a:extLst>
          </p:cNvPr>
          <p:cNvSpPr txBox="1"/>
          <p:nvPr/>
        </p:nvSpPr>
        <p:spPr>
          <a:xfrm>
            <a:off x="176001" y="68417"/>
            <a:ext cx="6096000" cy="461665"/>
          </a:xfrm>
          <a:prstGeom prst="rect">
            <a:avLst/>
          </a:prstGeom>
          <a:noFill/>
        </p:spPr>
        <p:txBody>
          <a:bodyPr wrap="square">
            <a:spAutoFit/>
          </a:bodyPr>
          <a:lstStyle/>
          <a:p>
            <a:r>
              <a:rPr lang="en-IN" sz="2400" dirty="0"/>
              <a:t>Database Design Overview</a:t>
            </a:r>
          </a:p>
        </p:txBody>
      </p:sp>
      <p:sp>
        <p:nvSpPr>
          <p:cNvPr id="7" name="TextBox 6">
            <a:extLst>
              <a:ext uri="{FF2B5EF4-FFF2-40B4-BE49-F238E27FC236}">
                <a16:creationId xmlns:a16="http://schemas.microsoft.com/office/drawing/2014/main" id="{E2A5EC1D-2A4A-4C87-288C-137A1EB7AA35}"/>
              </a:ext>
            </a:extLst>
          </p:cNvPr>
          <p:cNvSpPr txBox="1"/>
          <p:nvPr/>
        </p:nvSpPr>
        <p:spPr>
          <a:xfrm>
            <a:off x="572462" y="805000"/>
            <a:ext cx="2529328" cy="461665"/>
          </a:xfrm>
          <a:prstGeom prst="rect">
            <a:avLst/>
          </a:prstGeom>
          <a:noFill/>
        </p:spPr>
        <p:txBody>
          <a:bodyPr wrap="square">
            <a:spAutoFit/>
          </a:bodyPr>
          <a:lstStyle/>
          <a:p>
            <a:r>
              <a:rPr lang="en-US" sz="2400" b="1" dirty="0"/>
              <a:t>ER Diagram</a:t>
            </a:r>
            <a:r>
              <a:rPr lang="en-US" sz="2400" dirty="0"/>
              <a:t>:</a:t>
            </a:r>
          </a:p>
        </p:txBody>
      </p:sp>
      <p:pic>
        <p:nvPicPr>
          <p:cNvPr id="3" name="Picture 2">
            <a:extLst>
              <a:ext uri="{FF2B5EF4-FFF2-40B4-BE49-F238E27FC236}">
                <a16:creationId xmlns:a16="http://schemas.microsoft.com/office/drawing/2014/main" id="{90523333-AED2-E19A-72E0-7BFB513B9A60}"/>
              </a:ext>
            </a:extLst>
          </p:cNvPr>
          <p:cNvPicPr>
            <a:picLocks noChangeAspect="1"/>
          </p:cNvPicPr>
          <p:nvPr/>
        </p:nvPicPr>
        <p:blipFill>
          <a:blip r:embed="rId2"/>
          <a:stretch>
            <a:fillRect/>
          </a:stretch>
        </p:blipFill>
        <p:spPr>
          <a:xfrm>
            <a:off x="2621900" y="557133"/>
            <a:ext cx="9265299" cy="6085322"/>
          </a:xfrm>
          <a:prstGeom prst="rect">
            <a:avLst/>
          </a:prstGeom>
        </p:spPr>
      </p:pic>
    </p:spTree>
    <p:extLst>
      <p:ext uri="{BB962C8B-B14F-4D97-AF65-F5344CB8AC3E}">
        <p14:creationId xmlns:p14="http://schemas.microsoft.com/office/powerpoint/2010/main" val="520621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F199A0-403E-4F85-4439-E44A814FC320}"/>
              </a:ext>
            </a:extLst>
          </p:cNvPr>
          <p:cNvSpPr txBox="1"/>
          <p:nvPr/>
        </p:nvSpPr>
        <p:spPr>
          <a:xfrm>
            <a:off x="457200" y="174562"/>
            <a:ext cx="6096000" cy="646331"/>
          </a:xfrm>
          <a:prstGeom prst="rect">
            <a:avLst/>
          </a:prstGeom>
          <a:noFill/>
        </p:spPr>
        <p:txBody>
          <a:bodyPr wrap="square">
            <a:spAutoFit/>
          </a:bodyPr>
          <a:lstStyle/>
          <a:p>
            <a:r>
              <a:rPr lang="en-IN" sz="3600" dirty="0"/>
              <a:t>SQL Queries for Operations</a:t>
            </a:r>
          </a:p>
        </p:txBody>
      </p:sp>
      <p:sp>
        <p:nvSpPr>
          <p:cNvPr id="7" name="TextBox 6">
            <a:extLst>
              <a:ext uri="{FF2B5EF4-FFF2-40B4-BE49-F238E27FC236}">
                <a16:creationId xmlns:a16="http://schemas.microsoft.com/office/drawing/2014/main" id="{F008DC62-AFFC-72E5-E461-0E729B5CC18B}"/>
              </a:ext>
            </a:extLst>
          </p:cNvPr>
          <p:cNvSpPr txBox="1"/>
          <p:nvPr/>
        </p:nvSpPr>
        <p:spPr>
          <a:xfrm>
            <a:off x="1664853" y="1786391"/>
            <a:ext cx="10000673" cy="4247317"/>
          </a:xfrm>
          <a:prstGeom prst="rect">
            <a:avLst/>
          </a:prstGeom>
          <a:noFill/>
        </p:spPr>
        <p:txBody>
          <a:bodyPr wrap="square">
            <a:spAutoFit/>
          </a:bodyPr>
          <a:lstStyle/>
          <a:p>
            <a:pPr>
              <a:lnSpc>
                <a:spcPct val="200000"/>
              </a:lnSpc>
              <a:buFont typeface="Arial" panose="020B0604020202020204" pitchFamily="34" charset="0"/>
              <a:buChar char="•"/>
            </a:pPr>
            <a:r>
              <a:rPr lang="en-US" dirty="0"/>
              <a:t>Data Base and Table Creation</a:t>
            </a:r>
          </a:p>
          <a:p>
            <a:pPr>
              <a:lnSpc>
                <a:spcPct val="200000"/>
              </a:lnSpc>
              <a:buFont typeface="Arial" panose="020B0604020202020204" pitchFamily="34" charset="0"/>
              <a:buChar char="•"/>
            </a:pPr>
            <a:r>
              <a:rPr lang="en-US" dirty="0"/>
              <a:t>Insertion of the data into all table</a:t>
            </a:r>
          </a:p>
          <a:p>
            <a:pPr>
              <a:lnSpc>
                <a:spcPct val="200000"/>
              </a:lnSpc>
              <a:buFont typeface="Arial" panose="020B0604020202020204" pitchFamily="34" charset="0"/>
              <a:buChar char="•"/>
            </a:pPr>
            <a:r>
              <a:rPr lang="en-US" dirty="0"/>
              <a:t>Track of the product Order based analysis.</a:t>
            </a:r>
          </a:p>
          <a:p>
            <a:pPr>
              <a:lnSpc>
                <a:spcPct val="200000"/>
              </a:lnSpc>
              <a:buFont typeface="Arial" panose="020B0604020202020204" pitchFamily="34" charset="0"/>
              <a:buChar char="•"/>
            </a:pPr>
            <a:r>
              <a:rPr lang="en-US" dirty="0"/>
              <a:t> Monitor the product quantity before being out of stock</a:t>
            </a:r>
          </a:p>
          <a:p>
            <a:pPr>
              <a:lnSpc>
                <a:spcPct val="200000"/>
              </a:lnSpc>
              <a:buFont typeface="Arial" panose="020B0604020202020204" pitchFamily="34" charset="0"/>
              <a:buChar char="•"/>
            </a:pPr>
            <a:r>
              <a:rPr lang="en-US" dirty="0"/>
              <a:t>Implement the store procedure to automate the analysis of product, price and quantity</a:t>
            </a:r>
          </a:p>
          <a:p>
            <a:pPr>
              <a:lnSpc>
                <a:spcPct val="200000"/>
              </a:lnSpc>
              <a:buFont typeface="Arial" panose="020B0604020202020204" pitchFamily="34" charset="0"/>
              <a:buChar char="•"/>
            </a:pPr>
            <a:r>
              <a:rPr lang="en-US" sz="1800" b="1" dirty="0"/>
              <a:t>Sales Tracking</a:t>
            </a:r>
            <a:r>
              <a:rPr lang="en-US" sz="1800" dirty="0"/>
              <a:t>: Query to track daily, weekly, or monthly sales volumes.</a:t>
            </a:r>
          </a:p>
          <a:p>
            <a:pPr>
              <a:lnSpc>
                <a:spcPct val="200000"/>
              </a:lnSpc>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4556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330563-0185-761F-D0BB-50761B975ABF}"/>
              </a:ext>
            </a:extLst>
          </p:cNvPr>
          <p:cNvSpPr txBox="1"/>
          <p:nvPr/>
        </p:nvSpPr>
        <p:spPr>
          <a:xfrm>
            <a:off x="3639127" y="2512291"/>
            <a:ext cx="3934691" cy="523220"/>
          </a:xfrm>
          <a:prstGeom prst="rect">
            <a:avLst/>
          </a:prstGeom>
          <a:noFill/>
        </p:spPr>
        <p:txBody>
          <a:bodyPr wrap="square" rtlCol="0">
            <a:spAutoFit/>
          </a:bodyPr>
          <a:lstStyle/>
          <a:p>
            <a:pPr algn="ctr"/>
            <a:r>
              <a:rPr lang="en-US" sz="2800" b="1" dirty="0"/>
              <a:t>Thank you </a:t>
            </a:r>
          </a:p>
        </p:txBody>
      </p:sp>
    </p:spTree>
    <p:extLst>
      <p:ext uri="{BB962C8B-B14F-4D97-AF65-F5344CB8AC3E}">
        <p14:creationId xmlns:p14="http://schemas.microsoft.com/office/powerpoint/2010/main" val="13329347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76</TotalTime>
  <Words>324</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Century Gothic</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Kumar Singh</dc:creator>
  <cp:lastModifiedBy>JAY JOSHI</cp:lastModifiedBy>
  <cp:revision>7</cp:revision>
  <dcterms:created xsi:type="dcterms:W3CDTF">2024-10-18T12:50:06Z</dcterms:created>
  <dcterms:modified xsi:type="dcterms:W3CDTF">2025-12-10T14:14:53Z</dcterms:modified>
</cp:coreProperties>
</file>